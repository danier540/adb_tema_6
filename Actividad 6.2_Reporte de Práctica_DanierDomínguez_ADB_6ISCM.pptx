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58" r:id="rId5"/>
    <p:sldId id="270" r:id="rId6"/>
    <p:sldId id="271" r:id="rId7"/>
    <p:sldId id="272" r:id="rId8"/>
    <p:sldId id="273" r:id="rId9"/>
    <p:sldId id="274" r:id="rId10"/>
    <p:sldId id="275" r:id="rId11"/>
    <p:sldId id="276" r:id="rId12"/>
    <p:sldId id="277" r:id="rId13"/>
    <p:sldId id="278" r:id="rId14"/>
    <p:sldId id="279" r:id="rId15"/>
    <p:sldId id="280" r:id="rId16"/>
    <p:sldId id="281" r:id="rId17"/>
    <p:sldId id="282" r:id="rId18"/>
    <p:sldId id="283" r:id="rId19"/>
    <p:sldId id="284" r:id="rId20"/>
    <p:sldId id="269" r:id="rId21"/>
  </p:sldIdLst>
  <p:sldSz cx="12192000" cy="6858000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792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C6D35F6-AF48-40F0-AC45-B106A9435D1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D8BEE46-99DC-4567-90BB-1988B7369C7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D4DF895-4826-48EE-BE3D-5BD7A00B77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C62985-57C1-4F8A-9A84-7F5A156A6D2E}" type="datetimeFigureOut">
              <a:rPr lang="es-MX" smtClean="0"/>
              <a:t>13/06/2026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8167E61-531F-42A5-BF5D-FF2B9094BC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A985425-FB42-46DA-B602-8C9323A671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670407-7069-442B-8B38-D3BC6D6CC751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5097913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9125F32-C232-4E7E-9543-51D5F4946B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3EF7C58-3E15-4AA6-B4FC-2BCBE38DFB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90F1B26-DDFE-407F-919E-FF8E851DD4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C62985-57C1-4F8A-9A84-7F5A156A6D2E}" type="datetimeFigureOut">
              <a:rPr lang="es-MX" smtClean="0"/>
              <a:t>13/06/2026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AA81147-838C-4CE5-ACBC-5276AD005D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96AF0B1-FBEB-4973-9B84-B2A492D56E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670407-7069-442B-8B38-D3BC6D6CC751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1509000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A4FC173-4E4F-459E-A2BF-B1B70DCA15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2153ECB-3ECD-471F-A246-B93DE962BA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C526C60-50E8-4A32-ACDD-3608C896F9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C62985-57C1-4F8A-9A84-7F5A156A6D2E}" type="datetimeFigureOut">
              <a:rPr lang="es-MX" smtClean="0"/>
              <a:t>13/06/2026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8D7E718-1666-4654-9F5F-75ADDC7EC8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ED0C528-ED47-4D36-86C6-52FC2D6211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670407-7069-442B-8B38-D3BC6D6CC751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8503594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76E16F4-779E-42E7-88E5-F3E8971622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78202CA-4F35-4A6B-BEFB-2C3F55CBD11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161BC0D5-F8DE-4BAE-A874-946056635A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31A06C77-8B76-42B2-AAEB-7C6FDEB89D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C62985-57C1-4F8A-9A84-7F5A156A6D2E}" type="datetimeFigureOut">
              <a:rPr lang="es-MX" smtClean="0"/>
              <a:t>13/06/2026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96DEA1BF-193E-496D-BCA4-BFF16F12CB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F62CF7E2-71A0-4464-9374-E4250F0076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670407-7069-442B-8B38-D3BC6D6CC751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779925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2323AD5-E262-40C0-8BD3-887BB942C9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07215D07-9328-448E-89A7-E09DCC9142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099E4D15-091D-40AC-A56F-B772CFABF51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E9DF405A-6D7E-47DA-9A16-DE4F9341E15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D0D674E6-56FB-40D0-9515-109B21ED5E5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6B7838F7-4336-4B5A-A266-919C200CD7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C62985-57C1-4F8A-9A84-7F5A156A6D2E}" type="datetimeFigureOut">
              <a:rPr lang="es-MX" smtClean="0"/>
              <a:t>13/06/2026</a:t>
            </a:fld>
            <a:endParaRPr lang="es-MX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5526C684-43B3-4C30-9D52-B831AEF3A7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E83935A3-9D0D-413A-BB03-36D7E03D8C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670407-7069-442B-8B38-D3BC6D6CC751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9790037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FAFBDCB-AF65-4809-AE05-EAD2F3806A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8649FB7B-BCB1-4267-915A-275D118A90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C62985-57C1-4F8A-9A84-7F5A156A6D2E}" type="datetimeFigureOut">
              <a:rPr lang="es-MX" smtClean="0"/>
              <a:t>13/06/2026</a:t>
            </a:fld>
            <a:endParaRPr lang="es-MX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C816BBF7-4918-495E-B1A6-01C0241AFF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F616B3C3-A251-4CD3-8C3E-F533ADA321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670407-7069-442B-8B38-D3BC6D6CC751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1287685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F87507B3-D5B8-4BEF-9FA2-4E2D4577B8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C62985-57C1-4F8A-9A84-7F5A156A6D2E}" type="datetimeFigureOut">
              <a:rPr lang="es-MX" smtClean="0"/>
              <a:t>13/06/2026</a:t>
            </a:fld>
            <a:endParaRPr lang="es-MX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73215D3E-0593-43B9-9CCC-8405681DFA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DFFB7D52-73DF-4AC7-84E0-DC8AC61439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670407-7069-442B-8B38-D3BC6D6CC751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2386870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5820658-8383-41E3-8021-7830C403DA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8004D77-4620-4460-A8D6-6A8B6A777D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81E23E25-0B62-4DE6-9896-83ADB6A4CB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A85865F9-8A86-47E9-A5FC-58E992719C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C62985-57C1-4F8A-9A84-7F5A156A6D2E}" type="datetimeFigureOut">
              <a:rPr lang="es-MX" smtClean="0"/>
              <a:t>13/06/2026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47ADE27D-F409-46C1-A710-6430CA0965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52DAA96C-BDCE-404F-A86A-7D5AAE9E65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670407-7069-442B-8B38-D3BC6D6CC751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4487101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D394929-9171-42E6-93CE-0B8296401D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7F5B7511-947D-423E-8EB2-89A19107ED8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A547DC17-2010-44FB-ACF3-7E7B0EDE426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82BBE902-42FF-4DAC-ABFD-5A2CA8DFE6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C62985-57C1-4F8A-9A84-7F5A156A6D2E}" type="datetimeFigureOut">
              <a:rPr lang="es-MX" smtClean="0"/>
              <a:t>13/06/2026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4222FAA8-8E60-48F9-848B-57C2505AE7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B408174B-78FC-41D9-9C81-A24B3893CD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670407-7069-442B-8B38-D3BC6D6CC751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2751877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E7B42DD-31CA-40BE-9AC7-52699B460E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C2582B3F-638B-463D-B1C9-D0392C09D2D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4DA4965-4C42-457F-8F4F-215A8921F9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C62985-57C1-4F8A-9A84-7F5A156A6D2E}" type="datetimeFigureOut">
              <a:rPr lang="es-MX" smtClean="0"/>
              <a:t>13/06/2026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BE3FB37-11D3-4CDC-855F-93338BE0CC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5208D8B-E3AC-413E-A9DD-F660DEA0FD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670407-7069-442B-8B38-D3BC6D6CC751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6791060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284A9459-A5F9-4572-87EE-90218D750D2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6537FEA1-E0DF-4146-8AF1-4C0C1DDC980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9BA63B8-03BE-49B9-90E9-0D7B1AD98F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C62985-57C1-4F8A-9A84-7F5A156A6D2E}" type="datetimeFigureOut">
              <a:rPr lang="es-MX" smtClean="0"/>
              <a:t>13/06/2026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42A61F1-7D58-42FC-B01C-374EF0C4B8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DDD12E3-4330-421F-8260-F4A673345E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670407-7069-442B-8B38-D3BC6D6CC751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9249170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E7D6CD95-213C-4C24-AE3E-2DF1D06384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8EAD4205-EB5E-43A3-A8A3-1DF84C5A2F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1AF81F1-DA6B-4581-BF11-3D22F096894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5C62985-57C1-4F8A-9A84-7F5A156A6D2E}" type="datetimeFigureOut">
              <a:rPr lang="es-MX" smtClean="0"/>
              <a:t>13/06/2026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5E5474F-3696-4E5A-A2C5-6BFFF8E17FE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703DA3A-3360-440F-9462-2C5FB6A037A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4670407-7069-442B-8B38-D3BC6D6CC751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6883887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Danier540/ADB_TEMA_6.git" TargetMode="Externa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B9969794-9957-4724-8C60-6A0487488F5D}"/>
              </a:ext>
            </a:extLst>
          </p:cNvPr>
          <p:cNvPicPr/>
          <p:nvPr/>
        </p:nvPicPr>
        <p:blipFill rotWithShape="1">
          <a:blip r:embed="rId2"/>
          <a:srcRect l="905" t="8280" b="-1"/>
          <a:stretch/>
        </p:blipFill>
        <p:spPr bwMode="auto">
          <a:xfrm>
            <a:off x="2089014" y="329497"/>
            <a:ext cx="7826352" cy="889705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1EC5F41F-3613-436C-B535-56DC02032711}"/>
              </a:ext>
            </a:extLst>
          </p:cNvPr>
          <p:cNvSpPr txBox="1"/>
          <p:nvPr/>
        </p:nvSpPr>
        <p:spPr>
          <a:xfrm>
            <a:off x="2208629" y="1289739"/>
            <a:ext cx="7592724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400" b="1" dirty="0">
                <a:latin typeface="Arial" panose="020B0604020202020204" pitchFamily="34" charset="0"/>
                <a:cs typeface="Arial" panose="020B0604020202020204" pitchFamily="34" charset="0"/>
              </a:rPr>
              <a:t>Instituto Tecnológico Nacional de México</a:t>
            </a:r>
          </a:p>
          <a:p>
            <a:pPr algn="ctr"/>
            <a:r>
              <a:rPr lang="es-MX" sz="2000" b="1" dirty="0">
                <a:latin typeface="Arial" panose="020B0604020202020204" pitchFamily="34" charset="0"/>
                <a:cs typeface="Arial" panose="020B0604020202020204" pitchFamily="34" charset="0"/>
              </a:rPr>
              <a:t>Campus Frontera Comalapa</a:t>
            </a:r>
          </a:p>
          <a:p>
            <a:pPr algn="ctr"/>
            <a:r>
              <a:rPr lang="es-MX" sz="2000" b="1" dirty="0">
                <a:latin typeface="Arial" panose="020B0604020202020204" pitchFamily="34" charset="0"/>
                <a:cs typeface="Arial" panose="020B0604020202020204" pitchFamily="34" charset="0"/>
              </a:rPr>
              <a:t>Administración de Base de Datos</a:t>
            </a:r>
          </a:p>
          <a:p>
            <a:pPr algn="ctr"/>
            <a:endParaRPr lang="es-MX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s-MX" sz="2000" b="1" dirty="0">
                <a:latin typeface="Arial" panose="020B0604020202020204" pitchFamily="34" charset="0"/>
                <a:cs typeface="Arial" panose="020B0604020202020204" pitchFamily="34" charset="0"/>
              </a:rPr>
              <a:t>Nombre de los integrantes:</a:t>
            </a:r>
          </a:p>
          <a:p>
            <a:pPr algn="ctr"/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Danier Miguel Domínguez Rodríguez</a:t>
            </a:r>
          </a:p>
          <a:p>
            <a:pPr algn="ctr"/>
            <a:endParaRPr lang="es-MX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s-MX" sz="2000" b="1" dirty="0">
                <a:latin typeface="Arial" panose="020B0604020202020204" pitchFamily="34" charset="0"/>
                <a:cs typeface="Arial" panose="020B0604020202020204" pitchFamily="34" charset="0"/>
              </a:rPr>
              <a:t>Nombre del docente:</a:t>
            </a:r>
            <a:endParaRPr lang="es-MX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Francisco Javier Mingo Velázquez </a:t>
            </a:r>
          </a:p>
          <a:p>
            <a:pPr algn="ctr"/>
            <a:endParaRPr lang="es-MX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s-MX" sz="2000" b="1" dirty="0">
                <a:latin typeface="Arial" panose="020B0604020202020204" pitchFamily="34" charset="0"/>
                <a:cs typeface="Arial" panose="020B0604020202020204" pitchFamily="34" charset="0"/>
              </a:rPr>
              <a:t>Tema:</a:t>
            </a:r>
            <a:endParaRPr lang="es-MX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s-MX" dirty="0" err="1">
                <a:latin typeface="Arial" panose="020B0604020202020204" pitchFamily="34" charset="0"/>
                <a:cs typeface="Arial" panose="020B0604020202020204" pitchFamily="34" charset="0"/>
              </a:rPr>
              <a:t>Microservice</a:t>
            </a:r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MX" dirty="0" err="1">
                <a:latin typeface="Arial" panose="020B0604020202020204" pitchFamily="34" charset="0"/>
                <a:cs typeface="Arial" panose="020B0604020202020204" pitchFamily="34" charset="0"/>
              </a:rPr>
              <a:t>SpringBoot</a:t>
            </a:r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 Angular </a:t>
            </a:r>
            <a:r>
              <a:rPr lang="es-MX" dirty="0" err="1">
                <a:latin typeface="Arial" panose="020B0604020202020204" pitchFamily="34" charset="0"/>
                <a:cs typeface="Arial" panose="020B0604020202020204" pitchFamily="34" charset="0"/>
              </a:rPr>
              <a:t>Nginx</a:t>
            </a:r>
            <a:r>
              <a:rPr lang="es-MX">
                <a:latin typeface="Arial" panose="020B0604020202020204" pitchFamily="34" charset="0"/>
                <a:cs typeface="Arial" panose="020B0604020202020204" pitchFamily="34" charset="0"/>
              </a:rPr>
              <a:t> Manager</a:t>
            </a:r>
            <a:endParaRPr lang="es-MX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es-MX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s-MX" sz="2000" b="1" dirty="0">
                <a:latin typeface="Arial" panose="020B0604020202020204" pitchFamily="34" charset="0"/>
                <a:cs typeface="Arial" panose="020B0604020202020204" pitchFamily="34" charset="0"/>
              </a:rPr>
              <a:t>Fecha:</a:t>
            </a:r>
          </a:p>
          <a:p>
            <a:pPr algn="ctr"/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13/06/2026</a:t>
            </a:r>
          </a:p>
        </p:txBody>
      </p:sp>
    </p:spTree>
    <p:extLst>
      <p:ext uri="{BB962C8B-B14F-4D97-AF65-F5344CB8AC3E}">
        <p14:creationId xmlns:p14="http://schemas.microsoft.com/office/powerpoint/2010/main" val="1367949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40E7383A-2B6D-47EB-9665-C1DE6C8FBE8D}"/>
              </a:ext>
            </a:extLst>
          </p:cNvPr>
          <p:cNvSpPr txBox="1"/>
          <p:nvPr/>
        </p:nvSpPr>
        <p:spPr>
          <a:xfrm>
            <a:off x="1125416" y="970670"/>
            <a:ext cx="9861452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000" b="1" dirty="0">
                <a:latin typeface="Arial" panose="020B0604020202020204" pitchFamily="34" charset="0"/>
                <a:cs typeface="Arial" panose="020B0604020202020204" pitchFamily="34" charset="0"/>
              </a:rPr>
              <a:t>INTRODUCCION</a:t>
            </a:r>
          </a:p>
          <a:p>
            <a:endParaRPr lang="es-MX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En esta práctica se implementó un sistema de microservicios con Spring </a:t>
            </a:r>
            <a:r>
              <a:rPr lang="es-MX" dirty="0" err="1">
                <a:latin typeface="Arial" panose="020B0604020202020204" pitchFamily="34" charset="0"/>
                <a:cs typeface="Arial" panose="020B0604020202020204" pitchFamily="34" charset="0"/>
              </a:rPr>
              <a:t>Boot</a:t>
            </a:r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, integrando </a:t>
            </a:r>
            <a:r>
              <a:rPr lang="es-MX" dirty="0" err="1">
                <a:latin typeface="Arial" panose="020B0604020202020204" pitchFamily="34" charset="0"/>
                <a:cs typeface="Arial" panose="020B0604020202020204" pitchFamily="34" charset="0"/>
              </a:rPr>
              <a:t>Config</a:t>
            </a:r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 Server, Eureka, Gateway y </a:t>
            </a:r>
            <a:r>
              <a:rPr lang="es-MX" dirty="0" err="1">
                <a:latin typeface="Arial" panose="020B0604020202020204" pitchFamily="34" charset="0"/>
                <a:cs typeface="Arial" panose="020B0604020202020204" pitchFamily="34" charset="0"/>
              </a:rPr>
              <a:t>Nginx</a:t>
            </a:r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, junto con bases de datos MySQL y PostgreSQL. El objetivo fue </a:t>
            </a:r>
            <a:r>
              <a:rPr lang="es-MX" dirty="0" err="1">
                <a:latin typeface="Arial" panose="020B0604020202020204" pitchFamily="34" charset="0"/>
                <a:cs typeface="Arial" panose="020B0604020202020204" pitchFamily="34" charset="0"/>
              </a:rPr>
              <a:t>dockerizar</a:t>
            </a:r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 cada servicio y lograr su comunicación mediante descubrimiento y enrutamiento, evidenciando el proceso completo de despliegue en un entorno académico.</a:t>
            </a:r>
          </a:p>
        </p:txBody>
      </p:sp>
    </p:spTree>
    <p:extLst>
      <p:ext uri="{BB962C8B-B14F-4D97-AF65-F5344CB8AC3E}">
        <p14:creationId xmlns:p14="http://schemas.microsoft.com/office/powerpoint/2010/main" val="30288186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40E7383A-2B6D-47EB-9665-C1DE6C8FBE8D}"/>
              </a:ext>
            </a:extLst>
          </p:cNvPr>
          <p:cNvSpPr txBox="1"/>
          <p:nvPr/>
        </p:nvSpPr>
        <p:spPr>
          <a:xfrm>
            <a:off x="1125416" y="970670"/>
            <a:ext cx="9861452" cy="20928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000" b="1" dirty="0">
                <a:latin typeface="Arial" panose="020B0604020202020204" pitchFamily="34" charset="0"/>
                <a:cs typeface="Arial" panose="020B0604020202020204" pitchFamily="34" charset="0"/>
              </a:rPr>
              <a:t>JUSTIFICACION</a:t>
            </a:r>
          </a:p>
          <a:p>
            <a:endParaRPr lang="es-MX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La práctica se justifica porque permite comprender cómo se integran múltiples servicios en una arquitectura distribuida, aplicando conceptos de configuración centralizada, descubrimiento de servicios y balanceo de carga. Aunque se presentaron errores en la ejecución de Eureka, se logró demostrar el flujo de integración y la importancia de cada componente dentro de un sistema escalable.</a:t>
            </a:r>
          </a:p>
        </p:txBody>
      </p:sp>
    </p:spTree>
    <p:extLst>
      <p:ext uri="{BB962C8B-B14F-4D97-AF65-F5344CB8AC3E}">
        <p14:creationId xmlns:p14="http://schemas.microsoft.com/office/powerpoint/2010/main" val="38898517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40E7383A-2B6D-47EB-9665-C1DE6C8FBE8D}"/>
              </a:ext>
            </a:extLst>
          </p:cNvPr>
          <p:cNvSpPr txBox="1"/>
          <p:nvPr/>
        </p:nvSpPr>
        <p:spPr>
          <a:xfrm>
            <a:off x="1165274" y="337624"/>
            <a:ext cx="9861452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MX" sz="2000" b="1" dirty="0">
                <a:latin typeface="Arial" panose="020B0604020202020204" pitchFamily="34" charset="0"/>
                <a:cs typeface="Arial" panose="020B0604020202020204" pitchFamily="34" charset="0"/>
              </a:rPr>
              <a:t>Proyecto de microservicios en </a:t>
            </a:r>
            <a:r>
              <a:rPr lang="es-MX"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Intellij</a:t>
            </a:r>
            <a:r>
              <a:rPr lang="es-MX" sz="2000" b="1" dirty="0">
                <a:latin typeface="Arial" panose="020B0604020202020204" pitchFamily="34" charset="0"/>
                <a:cs typeface="Arial" panose="020B0604020202020204" pitchFamily="34" charset="0"/>
              </a:rPr>
              <a:t> Linux</a:t>
            </a:r>
          </a:p>
          <a:p>
            <a:pPr algn="just"/>
            <a:endParaRPr lang="es-MX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En esta etapa se muestra la estructura general del proyecto de microservicios desarrollado con Spring </a:t>
            </a:r>
            <a:r>
              <a:rPr lang="es-MX" dirty="0" err="1">
                <a:latin typeface="Arial" panose="020B0604020202020204" pitchFamily="34" charset="0"/>
                <a:cs typeface="Arial" panose="020B0604020202020204" pitchFamily="34" charset="0"/>
              </a:rPr>
              <a:t>Boot</a:t>
            </a:r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. Se aprecia la organización modular que incluye los servicios de configuración, </a:t>
            </a:r>
            <a:r>
              <a:rPr lang="es-MX" dirty="0" err="1">
                <a:latin typeface="Arial" panose="020B0604020202020204" pitchFamily="34" charset="0"/>
                <a:cs typeface="Arial" panose="020B0604020202020204" pitchFamily="34" charset="0"/>
              </a:rPr>
              <a:t>gateway</a:t>
            </a:r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, eureka, </a:t>
            </a:r>
            <a:r>
              <a:rPr lang="es-MX" dirty="0" err="1">
                <a:latin typeface="Arial" panose="020B0604020202020204" pitchFamily="34" charset="0"/>
                <a:cs typeface="Arial" panose="020B0604020202020204" pitchFamily="34" charset="0"/>
              </a:rPr>
              <a:t>student</a:t>
            </a:r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 y </a:t>
            </a:r>
            <a:r>
              <a:rPr lang="es-MX" dirty="0" err="1">
                <a:latin typeface="Arial" panose="020B0604020202020204" pitchFamily="34" charset="0"/>
                <a:cs typeface="Arial" panose="020B0604020202020204" pitchFamily="34" charset="0"/>
              </a:rPr>
              <a:t>course</a:t>
            </a:r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, reflejando una arquitectura distribuida que facilita la escalabilidad y el mantenimiento del sistema.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DB2A5F54-0823-47CF-B11B-DB82D3704B5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22018" y="2145324"/>
            <a:ext cx="8147964" cy="46023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2455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40E7383A-2B6D-47EB-9665-C1DE6C8FBE8D}"/>
              </a:ext>
            </a:extLst>
          </p:cNvPr>
          <p:cNvSpPr txBox="1"/>
          <p:nvPr/>
        </p:nvSpPr>
        <p:spPr>
          <a:xfrm>
            <a:off x="1165274" y="337624"/>
            <a:ext cx="9861452" cy="15388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MX" sz="2000" b="1" dirty="0">
                <a:latin typeface="Arial" panose="020B0604020202020204" pitchFamily="34" charset="0"/>
                <a:cs typeface="Arial" panose="020B0604020202020204" pitchFamily="34" charset="0"/>
              </a:rPr>
              <a:t>Configuración del </a:t>
            </a:r>
            <a:r>
              <a:rPr lang="es-MX"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Frontend</a:t>
            </a:r>
            <a:r>
              <a:rPr lang="es-MX" sz="2000" b="1" dirty="0">
                <a:latin typeface="Arial" panose="020B0604020202020204" pitchFamily="34" charset="0"/>
                <a:cs typeface="Arial" panose="020B0604020202020204" pitchFamily="34" charset="0"/>
              </a:rPr>
              <a:t> en Angular</a:t>
            </a:r>
          </a:p>
          <a:p>
            <a:pPr algn="just"/>
            <a:endParaRPr lang="es-MX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Aquí se evidencia el proceso de instalación y ejecución del proyecto </a:t>
            </a:r>
            <a:r>
              <a:rPr lang="es-MX" dirty="0" err="1">
                <a:latin typeface="Arial" panose="020B0604020202020204" pitchFamily="34" charset="0"/>
                <a:cs typeface="Arial" panose="020B0604020202020204" pitchFamily="34" charset="0"/>
              </a:rPr>
              <a:t>frontend</a:t>
            </a:r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 con Angular. Se observa la preparación del entorno mediante los comandos </a:t>
            </a:r>
            <a:r>
              <a:rPr lang="es-MX" dirty="0" err="1">
                <a:latin typeface="Arial" panose="020B0604020202020204" pitchFamily="34" charset="0"/>
                <a:cs typeface="Arial" panose="020B0604020202020204" pitchFamily="34" charset="0"/>
              </a:rPr>
              <a:t>npm</a:t>
            </a:r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MX" dirty="0" err="1">
                <a:latin typeface="Arial" panose="020B0604020202020204" pitchFamily="34" charset="0"/>
                <a:cs typeface="Arial" panose="020B0604020202020204" pitchFamily="34" charset="0"/>
              </a:rPr>
              <a:t>install</a:t>
            </a:r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 y ng serve, lo que permitió iniciar la interfaz web que interactúa con los microservicios del </a:t>
            </a:r>
            <a:r>
              <a:rPr lang="es-MX" dirty="0" err="1">
                <a:latin typeface="Arial" panose="020B0604020202020204" pitchFamily="34" charset="0"/>
                <a:cs typeface="Arial" panose="020B0604020202020204" pitchFamily="34" charset="0"/>
              </a:rPr>
              <a:t>backend</a:t>
            </a:r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9D752FED-A342-4E5E-AC9D-8281D9D5293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1500" y="2443008"/>
            <a:ext cx="11049000" cy="2619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3666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40E7383A-2B6D-47EB-9665-C1DE6C8FBE8D}"/>
              </a:ext>
            </a:extLst>
          </p:cNvPr>
          <p:cNvSpPr txBox="1"/>
          <p:nvPr/>
        </p:nvSpPr>
        <p:spPr>
          <a:xfrm>
            <a:off x="1165274" y="337624"/>
            <a:ext cx="9861452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MX" sz="2000" b="1" dirty="0">
                <a:latin typeface="Arial" panose="020B0604020202020204" pitchFamily="34" charset="0"/>
                <a:cs typeface="Arial" panose="020B0604020202020204" pitchFamily="34" charset="0"/>
              </a:rPr>
              <a:t>Interfaz web funcionando en localhost</a:t>
            </a:r>
          </a:p>
          <a:p>
            <a:pPr algn="just"/>
            <a:endParaRPr lang="es-MX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En esta captura se muestra la aplicación web en funcionamiento, donde el usuario puede registrar cursos y estudiantes, así como realizar búsquedas por ID. Esta interfaz representa la conexión exitosa entre el </a:t>
            </a:r>
            <a:r>
              <a:rPr lang="es-MX" dirty="0" err="1">
                <a:latin typeface="Arial" panose="020B0604020202020204" pitchFamily="34" charset="0"/>
                <a:cs typeface="Arial" panose="020B0604020202020204" pitchFamily="34" charset="0"/>
              </a:rPr>
              <a:t>frontend</a:t>
            </a:r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 y los microservicios, demostrando la integración completa del sistema.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2DAEE8E3-9CA8-44F6-9B15-FEE2CD56DF9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66146" y="2153506"/>
            <a:ext cx="7859708" cy="4452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89830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40E7383A-2B6D-47EB-9665-C1DE6C8FBE8D}"/>
              </a:ext>
            </a:extLst>
          </p:cNvPr>
          <p:cNvSpPr txBox="1"/>
          <p:nvPr/>
        </p:nvSpPr>
        <p:spPr>
          <a:xfrm>
            <a:off x="1165274" y="337624"/>
            <a:ext cx="9861452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MX" sz="2000" b="1" dirty="0">
                <a:latin typeface="Arial" panose="020B0604020202020204" pitchFamily="34" charset="0"/>
                <a:cs typeface="Arial" panose="020B0604020202020204" pitchFamily="34" charset="0"/>
              </a:rPr>
              <a:t>Configuración del archivo Docker </a:t>
            </a:r>
            <a:r>
              <a:rPr lang="es-MX"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Compose</a:t>
            </a:r>
            <a:endParaRPr lang="es-MX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s-MX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En esta etapa se muestra la configuración del archivo </a:t>
            </a:r>
            <a:r>
              <a:rPr lang="es-MX" dirty="0" err="1">
                <a:latin typeface="Arial" panose="020B0604020202020204" pitchFamily="34" charset="0"/>
                <a:cs typeface="Arial" panose="020B0604020202020204" pitchFamily="34" charset="0"/>
              </a:rPr>
              <a:t>docker-compose.yml</a:t>
            </a:r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, donde se definen los servicios principales del proyecto, incluyendo las bases de datos MySQL y PostgreSQL, así como el microservicio </a:t>
            </a:r>
            <a:r>
              <a:rPr lang="es-MX" dirty="0" err="1">
                <a:latin typeface="Arial" panose="020B0604020202020204" pitchFamily="34" charset="0"/>
                <a:cs typeface="Arial" panose="020B0604020202020204" pitchFamily="34" charset="0"/>
              </a:rPr>
              <a:t>Student</a:t>
            </a:r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. Esta estructura refleja la integración de los contenedores necesarios para ejecutar el sistema completo de manera coordinada.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6A85815A-8547-45E7-AA57-900A4A6E3A4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64221" y="2153506"/>
            <a:ext cx="8063558" cy="45547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8664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40E7383A-2B6D-47EB-9665-C1DE6C8FBE8D}"/>
              </a:ext>
            </a:extLst>
          </p:cNvPr>
          <p:cNvSpPr txBox="1"/>
          <p:nvPr/>
        </p:nvSpPr>
        <p:spPr>
          <a:xfrm>
            <a:off x="1165274" y="337624"/>
            <a:ext cx="9861452" cy="15388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MX" sz="2000" b="1" dirty="0">
                <a:latin typeface="Arial" panose="020B0604020202020204" pitchFamily="34" charset="0"/>
                <a:cs typeface="Arial" panose="020B0604020202020204" pitchFamily="34" charset="0"/>
              </a:rPr>
              <a:t>Configuración de los </a:t>
            </a:r>
            <a:r>
              <a:rPr lang="es-MX"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Dockerfile</a:t>
            </a:r>
            <a:endParaRPr lang="es-MX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s-MX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Aquí se especifica la imagen base de Java y las instrucciones para empaquetar y ejecutar la aplicación Spring </a:t>
            </a:r>
            <a:r>
              <a:rPr lang="es-MX" dirty="0" err="1">
                <a:latin typeface="Arial" panose="020B0604020202020204" pitchFamily="34" charset="0"/>
                <a:cs typeface="Arial" panose="020B0604020202020204" pitchFamily="34" charset="0"/>
              </a:rPr>
              <a:t>Boot</a:t>
            </a:r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 dentro de un contenedor, evidenciando el proceso de </a:t>
            </a:r>
            <a:r>
              <a:rPr lang="es-MX" dirty="0" err="1">
                <a:latin typeface="Arial" panose="020B0604020202020204" pitchFamily="34" charset="0"/>
                <a:cs typeface="Arial" panose="020B0604020202020204" pitchFamily="34" charset="0"/>
              </a:rPr>
              <a:t>dockerización</a:t>
            </a:r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 del servicio.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C03DCEBA-C8B7-4DCA-8985-7B7B0D6A182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65747" y="1876507"/>
            <a:ext cx="8260506" cy="4665950"/>
          </a:xfrm>
          <a:prstGeom prst="rect">
            <a:avLst/>
          </a:prstGeom>
        </p:spPr>
      </p:pic>
      <p:cxnSp>
        <p:nvCxnSpPr>
          <p:cNvPr id="7" name="Conector recto de flecha 6">
            <a:extLst>
              <a:ext uri="{FF2B5EF4-FFF2-40B4-BE49-F238E27FC236}">
                <a16:creationId xmlns:a16="http://schemas.microsoft.com/office/drawing/2014/main" id="{7791B366-E6E2-41B0-B287-FE5AEF2D971A}"/>
              </a:ext>
            </a:extLst>
          </p:cNvPr>
          <p:cNvCxnSpPr/>
          <p:nvPr/>
        </p:nvCxnSpPr>
        <p:spPr>
          <a:xfrm flipH="1">
            <a:off x="3010485" y="2940148"/>
            <a:ext cx="787791" cy="407963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ector recto de flecha 7">
            <a:extLst>
              <a:ext uri="{FF2B5EF4-FFF2-40B4-BE49-F238E27FC236}">
                <a16:creationId xmlns:a16="http://schemas.microsoft.com/office/drawing/2014/main" id="{772AC600-C9D4-4794-8A8A-E2575ABF1317}"/>
              </a:ext>
            </a:extLst>
          </p:cNvPr>
          <p:cNvCxnSpPr/>
          <p:nvPr/>
        </p:nvCxnSpPr>
        <p:spPr>
          <a:xfrm flipH="1">
            <a:off x="3078478" y="4443046"/>
            <a:ext cx="787791" cy="407963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212463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40E7383A-2B6D-47EB-9665-C1DE6C8FBE8D}"/>
              </a:ext>
            </a:extLst>
          </p:cNvPr>
          <p:cNvSpPr txBox="1"/>
          <p:nvPr/>
        </p:nvSpPr>
        <p:spPr>
          <a:xfrm>
            <a:off x="1165274" y="337624"/>
            <a:ext cx="9861452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MX" sz="2000" b="1" dirty="0">
                <a:latin typeface="Arial" panose="020B0604020202020204" pitchFamily="34" charset="0"/>
                <a:cs typeface="Arial" panose="020B0604020202020204" pitchFamily="34" charset="0"/>
              </a:rPr>
              <a:t>Ejecución de Docker </a:t>
            </a:r>
            <a:r>
              <a:rPr lang="es-MX"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Compose</a:t>
            </a:r>
            <a:endParaRPr lang="es-MX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s-MX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En esta imagen se muestra la ejecución del comando </a:t>
            </a:r>
            <a:r>
              <a:rPr lang="es-MX" dirty="0" err="1">
                <a:latin typeface="Arial" panose="020B0604020202020204" pitchFamily="34" charset="0"/>
                <a:cs typeface="Arial" panose="020B0604020202020204" pitchFamily="34" charset="0"/>
              </a:rPr>
              <a:t>docker</a:t>
            </a:r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MX" dirty="0" err="1">
                <a:latin typeface="Arial" panose="020B0604020202020204" pitchFamily="34" charset="0"/>
                <a:cs typeface="Arial" panose="020B0604020202020204" pitchFamily="34" charset="0"/>
              </a:rPr>
              <a:t>compose</a:t>
            </a:r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 up --</a:t>
            </a:r>
            <a:r>
              <a:rPr lang="es-MX" dirty="0" err="1">
                <a:latin typeface="Arial" panose="020B0604020202020204" pitchFamily="34" charset="0"/>
                <a:cs typeface="Arial" panose="020B0604020202020204" pitchFamily="34" charset="0"/>
              </a:rPr>
              <a:t>build</a:t>
            </a:r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, que inicia la construcción y levantamiento de los contenedores definidos en el proyecto. Este paso representa el despliegue del entorno completo de microservicios, permitiendo su ejecución simultánea y comunicación entre ellos.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58AF0CBB-331E-434E-911A-82D32A6C1B3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55661" y="2153506"/>
            <a:ext cx="7880678" cy="44514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917856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40E7383A-2B6D-47EB-9665-C1DE6C8FBE8D}"/>
              </a:ext>
            </a:extLst>
          </p:cNvPr>
          <p:cNvSpPr txBox="1"/>
          <p:nvPr/>
        </p:nvSpPr>
        <p:spPr>
          <a:xfrm>
            <a:off x="1165274" y="337624"/>
            <a:ext cx="9861452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MX"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Dockerfile</a:t>
            </a:r>
            <a:r>
              <a:rPr lang="es-MX" sz="2000" b="1" dirty="0">
                <a:latin typeface="Arial" panose="020B0604020202020204" pitchFamily="34" charset="0"/>
                <a:cs typeface="Arial" panose="020B0604020202020204" pitchFamily="34" charset="0"/>
              </a:rPr>
              <a:t> de cada microservicio y ejecución</a:t>
            </a:r>
          </a:p>
          <a:p>
            <a:pPr algn="just"/>
            <a:endParaRPr lang="es-MX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En esta captura se observa el </a:t>
            </a:r>
            <a:r>
              <a:rPr lang="es-MX" dirty="0" err="1">
                <a:latin typeface="Arial" panose="020B0604020202020204" pitchFamily="34" charset="0"/>
                <a:cs typeface="Arial" panose="020B0604020202020204" pitchFamily="34" charset="0"/>
              </a:rPr>
              <a:t>Dockerfile</a:t>
            </a:r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 del microservicio </a:t>
            </a:r>
            <a:r>
              <a:rPr lang="es-MX" dirty="0" err="1">
                <a:latin typeface="Arial" panose="020B0604020202020204" pitchFamily="34" charset="0"/>
                <a:cs typeface="Arial" panose="020B0604020202020204" pitchFamily="34" charset="0"/>
              </a:rPr>
              <a:t>Student</a:t>
            </a:r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, donde se define la imagen base de Java y las instrucciones necesarias para empaquetar y ejecutar la aplicación dentro de un contenedor. Este paso refleja el proceso de </a:t>
            </a:r>
            <a:r>
              <a:rPr lang="es-MX" dirty="0" err="1">
                <a:latin typeface="Arial" panose="020B0604020202020204" pitchFamily="34" charset="0"/>
                <a:cs typeface="Arial" panose="020B0604020202020204" pitchFamily="34" charset="0"/>
              </a:rPr>
              <a:t>dockerización</a:t>
            </a:r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 que permite desplegar el servicio de manera independiente y escalable.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E4ACC738-203D-48FC-A44E-CB41672E81B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31628" y="2153506"/>
            <a:ext cx="8328744" cy="4704494"/>
          </a:xfrm>
          <a:prstGeom prst="rect">
            <a:avLst/>
          </a:prstGeom>
        </p:spPr>
      </p:pic>
      <p:cxnSp>
        <p:nvCxnSpPr>
          <p:cNvPr id="7" name="Conector recto de flecha 6">
            <a:extLst>
              <a:ext uri="{FF2B5EF4-FFF2-40B4-BE49-F238E27FC236}">
                <a16:creationId xmlns:a16="http://schemas.microsoft.com/office/drawing/2014/main" id="{BB97900B-61B7-4C63-AE4B-08AC348BA696}"/>
              </a:ext>
            </a:extLst>
          </p:cNvPr>
          <p:cNvCxnSpPr/>
          <p:nvPr/>
        </p:nvCxnSpPr>
        <p:spPr>
          <a:xfrm flipH="1">
            <a:off x="7849772" y="4505753"/>
            <a:ext cx="647114" cy="671158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0883503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40E7383A-2B6D-47EB-9665-C1DE6C8FBE8D}"/>
              </a:ext>
            </a:extLst>
          </p:cNvPr>
          <p:cNvSpPr txBox="1"/>
          <p:nvPr/>
        </p:nvSpPr>
        <p:spPr>
          <a:xfrm>
            <a:off x="1165274" y="337624"/>
            <a:ext cx="9861452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MX" sz="2000" b="1" dirty="0">
                <a:latin typeface="Arial" panose="020B0604020202020204" pitchFamily="34" charset="0"/>
                <a:cs typeface="Arial" panose="020B0604020202020204" pitchFamily="34" charset="0"/>
              </a:rPr>
              <a:t>Interfaz de Eureka en localhost</a:t>
            </a:r>
          </a:p>
          <a:p>
            <a:pPr algn="just"/>
            <a:endParaRPr lang="es-MX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Aquí se muestra la interfaz gráfica de Eureka corriendo en localhost:8761. Esta herramienta actúa como servidor de descubrimiento, permitiendo registrar y localizar los microservicios activos dentro del sistema. La captura evidencia que el servicio fue levantado y está disponible para la integración con los demás componentes.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B2A9412E-30B2-4461-ABDC-022F891E8E6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40576" y="2363371"/>
            <a:ext cx="7510847" cy="3608363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5409761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40E7383A-2B6D-47EB-9665-C1DE6C8FBE8D}"/>
              </a:ext>
            </a:extLst>
          </p:cNvPr>
          <p:cNvSpPr txBox="1"/>
          <p:nvPr/>
        </p:nvSpPr>
        <p:spPr>
          <a:xfrm>
            <a:off x="1165274" y="337624"/>
            <a:ext cx="9861452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MX" sz="2000" b="1" dirty="0">
                <a:latin typeface="Arial" panose="020B0604020202020204" pitchFamily="34" charset="0"/>
                <a:cs typeface="Arial" panose="020B0604020202020204" pitchFamily="34" charset="0"/>
              </a:rPr>
              <a:t>Organización de configuraciones en el proyecto</a:t>
            </a:r>
          </a:p>
          <a:p>
            <a:pPr algn="just"/>
            <a:endParaRPr lang="es-MX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En esta imagen se aprecia la estructura del proyecto de microservicios en Spring </a:t>
            </a:r>
            <a:r>
              <a:rPr lang="es-MX" dirty="0" err="1">
                <a:latin typeface="Arial" panose="020B0604020202020204" pitchFamily="34" charset="0"/>
                <a:cs typeface="Arial" panose="020B0604020202020204" pitchFamily="34" charset="0"/>
              </a:rPr>
              <a:t>Boot</a:t>
            </a:r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, destacando la carpeta de configuraciones que contiene los archivos YAML para cada servicio. Esta organización facilita la administración centralizada de parámetros y asegura que cada microservicio tenga definida su configuración de manera clara y modular.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15B1738F-6396-4009-8EBF-339E0F3AFE9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57650" y="2367086"/>
            <a:ext cx="2807384" cy="38765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009537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40E7383A-2B6D-47EB-9665-C1DE6C8FBE8D}"/>
              </a:ext>
            </a:extLst>
          </p:cNvPr>
          <p:cNvSpPr txBox="1"/>
          <p:nvPr/>
        </p:nvSpPr>
        <p:spPr>
          <a:xfrm>
            <a:off x="1165274" y="337624"/>
            <a:ext cx="9861452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MX" sz="2000" b="1" dirty="0">
                <a:latin typeface="Arial" panose="020B0604020202020204" pitchFamily="34" charset="0"/>
                <a:cs typeface="Arial" panose="020B0604020202020204" pitchFamily="34" charset="0"/>
              </a:rPr>
              <a:t>Ejecución del Gateway en Docker</a:t>
            </a:r>
          </a:p>
          <a:p>
            <a:pPr algn="just"/>
            <a:endParaRPr lang="es-MX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En esta captura se observa la ejecución del proyecto en Visual Studio </a:t>
            </a:r>
            <a:r>
              <a:rPr lang="es-MX" dirty="0" err="1">
                <a:latin typeface="Arial" panose="020B0604020202020204" pitchFamily="34" charset="0"/>
                <a:cs typeface="Arial" panose="020B0604020202020204" pitchFamily="34" charset="0"/>
              </a:rPr>
              <a:t>Code</a:t>
            </a:r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, donde el servicio Gateway se levanta dentro de Docker y comienza a interactuar con Eureka para el descubrimiento de microservicios. Esta evidencia refleja el despliegue del enrutador central que conecta las peticiones hacia los servicios </a:t>
            </a:r>
            <a:r>
              <a:rPr lang="es-MX" dirty="0" err="1">
                <a:latin typeface="Arial" panose="020B0604020202020204" pitchFamily="34" charset="0"/>
                <a:cs typeface="Arial" panose="020B0604020202020204" pitchFamily="34" charset="0"/>
              </a:rPr>
              <a:t>Student</a:t>
            </a:r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 y </a:t>
            </a:r>
            <a:r>
              <a:rPr lang="es-MX" dirty="0" err="1">
                <a:latin typeface="Arial" panose="020B0604020202020204" pitchFamily="34" charset="0"/>
                <a:cs typeface="Arial" panose="020B0604020202020204" pitchFamily="34" charset="0"/>
              </a:rPr>
              <a:t>Course</a:t>
            </a:r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D608E324-A6E6-4E86-BFFF-6E121CBA4E0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23498" y="2133444"/>
            <a:ext cx="8345003" cy="47245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578220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40E7383A-2B6D-47EB-9665-C1DE6C8FBE8D}"/>
              </a:ext>
            </a:extLst>
          </p:cNvPr>
          <p:cNvSpPr txBox="1"/>
          <p:nvPr/>
        </p:nvSpPr>
        <p:spPr>
          <a:xfrm>
            <a:off x="1165274" y="337624"/>
            <a:ext cx="9861452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MX" sz="2000" b="1" dirty="0">
                <a:latin typeface="Arial" panose="020B0604020202020204" pitchFamily="34" charset="0"/>
                <a:cs typeface="Arial" panose="020B0604020202020204" pitchFamily="34" charset="0"/>
              </a:rPr>
              <a:t>Configuración del </a:t>
            </a:r>
            <a:r>
              <a:rPr lang="es-MX"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nginx</a:t>
            </a:r>
            <a:r>
              <a:rPr lang="es-MX" sz="2000" b="1" dirty="0">
                <a:latin typeface="Arial" panose="020B0604020202020204" pitchFamily="34" charset="0"/>
                <a:cs typeface="Arial" panose="020B0604020202020204" pitchFamily="34" charset="0"/>
              </a:rPr>
              <a:t> como proxy</a:t>
            </a:r>
          </a:p>
          <a:p>
            <a:pPr algn="just"/>
            <a:endParaRPr lang="es-MX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Aquí se muestra el archivo </a:t>
            </a:r>
            <a:r>
              <a:rPr lang="es-MX" dirty="0" err="1">
                <a:latin typeface="Arial" panose="020B0604020202020204" pitchFamily="34" charset="0"/>
                <a:cs typeface="Arial" panose="020B0604020202020204" pitchFamily="34" charset="0"/>
              </a:rPr>
              <a:t>nginx.conf</a:t>
            </a:r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, en el cual se definen las reglas de enrutamiento para las rutas de los microservicios. La configuración permite que las solicitudes hacia /api/</a:t>
            </a:r>
            <a:r>
              <a:rPr lang="es-MX" dirty="0" err="1">
                <a:latin typeface="Arial" panose="020B0604020202020204" pitchFamily="34" charset="0"/>
                <a:cs typeface="Arial" panose="020B0604020202020204" pitchFamily="34" charset="0"/>
              </a:rPr>
              <a:t>student</a:t>
            </a:r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/ y /api/</a:t>
            </a:r>
            <a:r>
              <a:rPr lang="es-MX" dirty="0" err="1">
                <a:latin typeface="Arial" panose="020B0604020202020204" pitchFamily="34" charset="0"/>
                <a:cs typeface="Arial" panose="020B0604020202020204" pitchFamily="34" charset="0"/>
              </a:rPr>
              <a:t>course</a:t>
            </a:r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/ pasen por el Gateway, demostrando la integración de </a:t>
            </a:r>
            <a:r>
              <a:rPr lang="es-MX" dirty="0" err="1">
                <a:latin typeface="Arial" panose="020B0604020202020204" pitchFamily="34" charset="0"/>
                <a:cs typeface="Arial" panose="020B0604020202020204" pitchFamily="34" charset="0"/>
              </a:rPr>
              <a:t>Nginx</a:t>
            </a:r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 como proxy inverso dentro de la arquitectura.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8838BEE7-5DD6-4A08-BDF4-B869D4D6D1A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82056" y="2153506"/>
            <a:ext cx="6827887" cy="4004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318925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40E7383A-2B6D-47EB-9665-C1DE6C8FBE8D}"/>
              </a:ext>
            </a:extLst>
          </p:cNvPr>
          <p:cNvSpPr txBox="1"/>
          <p:nvPr/>
        </p:nvSpPr>
        <p:spPr>
          <a:xfrm>
            <a:off x="1165274" y="337624"/>
            <a:ext cx="9861452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MX" sz="2000" b="1" dirty="0">
                <a:latin typeface="Arial" panose="020B0604020202020204" pitchFamily="34" charset="0"/>
                <a:cs typeface="Arial" panose="020B0604020202020204" pitchFamily="34" charset="0"/>
              </a:rPr>
              <a:t>Orquestación de servicios en Docker </a:t>
            </a:r>
            <a:r>
              <a:rPr lang="es-MX"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Compose</a:t>
            </a:r>
            <a:endParaRPr lang="es-MX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s-MX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En esta imagen se aprecia el archivo </a:t>
            </a:r>
            <a:r>
              <a:rPr lang="es-MX" dirty="0" err="1">
                <a:latin typeface="Arial" panose="020B0604020202020204" pitchFamily="34" charset="0"/>
                <a:cs typeface="Arial" panose="020B0604020202020204" pitchFamily="34" charset="0"/>
              </a:rPr>
              <a:t>docker-compose.yml</a:t>
            </a:r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 con la definición de los servicios </a:t>
            </a:r>
            <a:r>
              <a:rPr lang="es-MX" dirty="0" err="1">
                <a:latin typeface="Arial" panose="020B0604020202020204" pitchFamily="34" charset="0"/>
                <a:cs typeface="Arial" panose="020B0604020202020204" pitchFamily="34" charset="0"/>
              </a:rPr>
              <a:t>Config</a:t>
            </a:r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, Eureka, Gateway y </a:t>
            </a:r>
            <a:r>
              <a:rPr lang="es-MX" dirty="0" err="1">
                <a:latin typeface="Arial" panose="020B0604020202020204" pitchFamily="34" charset="0"/>
                <a:cs typeface="Arial" panose="020B0604020202020204" pitchFamily="34" charset="0"/>
              </a:rPr>
              <a:t>Student</a:t>
            </a:r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. La configuración establece dependencias y puertos, asegurando que los contenedores se levanten de manera ordenada y coordinada para garantizar la comunicación entre todos los componentes del sistema.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0014593C-0E3B-4DDA-8F1D-9AC93FA738F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47401" y="2153506"/>
            <a:ext cx="6297197" cy="46403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702446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40E7383A-2B6D-47EB-9665-C1DE6C8FBE8D}"/>
              </a:ext>
            </a:extLst>
          </p:cNvPr>
          <p:cNvSpPr txBox="1"/>
          <p:nvPr/>
        </p:nvSpPr>
        <p:spPr>
          <a:xfrm>
            <a:off x="1165274" y="337624"/>
            <a:ext cx="9861452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MX"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Dockerfile</a:t>
            </a:r>
            <a:r>
              <a:rPr lang="es-MX" sz="2000" b="1" dirty="0">
                <a:latin typeface="Arial" panose="020B0604020202020204" pitchFamily="34" charset="0"/>
                <a:cs typeface="Arial" panose="020B0604020202020204" pitchFamily="34" charset="0"/>
              </a:rPr>
              <a:t> del microservicio eureka</a:t>
            </a:r>
          </a:p>
          <a:p>
            <a:pPr algn="just"/>
            <a:endParaRPr lang="es-MX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En esta captura se observa el </a:t>
            </a:r>
            <a:r>
              <a:rPr lang="es-MX" dirty="0" err="1">
                <a:latin typeface="Arial" panose="020B0604020202020204" pitchFamily="34" charset="0"/>
                <a:cs typeface="Arial" panose="020B0604020202020204" pitchFamily="34" charset="0"/>
              </a:rPr>
              <a:t>Dockerfile</a:t>
            </a:r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 del microservicio Eureka, donde se define la imagen base de Java y las instrucciones para ejecutar la aplicación dentro de un contenedor. Este archivo permite empaquetar el servidor de descubrimiento y desplegarlo de manera independiente, asegurando su integración con el resto de los microservicios.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0858A6DE-1312-468D-9950-A92B9756328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61624" y="2153506"/>
            <a:ext cx="8468751" cy="45620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899701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40E7383A-2B6D-47EB-9665-C1DE6C8FBE8D}"/>
              </a:ext>
            </a:extLst>
          </p:cNvPr>
          <p:cNvSpPr txBox="1"/>
          <p:nvPr/>
        </p:nvSpPr>
        <p:spPr>
          <a:xfrm>
            <a:off x="1165274" y="337624"/>
            <a:ext cx="9861452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MX" sz="2000" b="1" dirty="0">
                <a:latin typeface="Arial" panose="020B0604020202020204" pitchFamily="34" charset="0"/>
                <a:cs typeface="Arial" panose="020B0604020202020204" pitchFamily="34" charset="0"/>
              </a:rPr>
              <a:t>Estado del servicio Docker en Linux</a:t>
            </a:r>
          </a:p>
          <a:p>
            <a:pPr algn="just"/>
            <a:endParaRPr lang="es-MX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Aquí se muestra la verificación del estado de Docker en el sistema operativo Linux mediante el comando </a:t>
            </a:r>
            <a:r>
              <a:rPr lang="es-MX" dirty="0" err="1">
                <a:latin typeface="Arial" panose="020B0604020202020204" pitchFamily="34" charset="0"/>
                <a:cs typeface="Arial" panose="020B0604020202020204" pitchFamily="34" charset="0"/>
              </a:rPr>
              <a:t>systemctl</a:t>
            </a:r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 status </a:t>
            </a:r>
            <a:r>
              <a:rPr lang="es-MX" dirty="0" err="1">
                <a:latin typeface="Arial" panose="020B0604020202020204" pitchFamily="34" charset="0"/>
                <a:cs typeface="Arial" panose="020B0604020202020204" pitchFamily="34" charset="0"/>
              </a:rPr>
              <a:t>docker</a:t>
            </a:r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. La salida confirma que el servicio está activo y en ejecución, lo cual garantiza la disponibilidad de la plataforma de contenedores necesaria para levantar y administrar todos los microservicios del proyecto.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A99B82CD-D8C0-4AC5-AE8B-3A196418D34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10861" y="2153506"/>
            <a:ext cx="8370277" cy="45090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011554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40E7383A-2B6D-47EB-9665-C1DE6C8FBE8D}"/>
              </a:ext>
            </a:extLst>
          </p:cNvPr>
          <p:cNvSpPr txBox="1"/>
          <p:nvPr/>
        </p:nvSpPr>
        <p:spPr>
          <a:xfrm>
            <a:off x="1165274" y="337624"/>
            <a:ext cx="9861452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MX" sz="2000" b="1" dirty="0">
                <a:latin typeface="Arial" panose="020B0604020202020204" pitchFamily="34" charset="0"/>
                <a:cs typeface="Arial" panose="020B0604020202020204" pitchFamily="34" charset="0"/>
              </a:rPr>
              <a:t>Estado del servicio Docker en Linux</a:t>
            </a:r>
          </a:p>
          <a:p>
            <a:pPr algn="just"/>
            <a:endParaRPr lang="es-MX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Aquí se muestra la verificación del estado de Docker en el sistema operativo Linux mediante el comando </a:t>
            </a:r>
            <a:r>
              <a:rPr lang="es-MX" dirty="0" err="1">
                <a:latin typeface="Arial" panose="020B0604020202020204" pitchFamily="34" charset="0"/>
                <a:cs typeface="Arial" panose="020B0604020202020204" pitchFamily="34" charset="0"/>
              </a:rPr>
              <a:t>systemctl</a:t>
            </a:r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 status </a:t>
            </a:r>
            <a:r>
              <a:rPr lang="es-MX" dirty="0" err="1">
                <a:latin typeface="Arial" panose="020B0604020202020204" pitchFamily="34" charset="0"/>
                <a:cs typeface="Arial" panose="020B0604020202020204" pitchFamily="34" charset="0"/>
              </a:rPr>
              <a:t>docker</a:t>
            </a:r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. La salida confirma que el servicio está activo y en ejecución, lo cual garantiza la disponibilidad de la plataforma de contenedores necesaria para levantar y administrar todos los microservicios del proyecto.</a:t>
            </a: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DA91BF20-D4EE-40EA-80BA-49781844FD6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44254" y="2153506"/>
            <a:ext cx="7903491" cy="45312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657840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40E7383A-2B6D-47EB-9665-C1DE6C8FBE8D}"/>
              </a:ext>
            </a:extLst>
          </p:cNvPr>
          <p:cNvSpPr txBox="1"/>
          <p:nvPr/>
        </p:nvSpPr>
        <p:spPr>
          <a:xfrm>
            <a:off x="1165274" y="337624"/>
            <a:ext cx="9861452" cy="20928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MX" sz="2000" b="1" dirty="0">
                <a:latin typeface="Arial" panose="020B0604020202020204" pitchFamily="34" charset="0"/>
                <a:cs typeface="Arial" panose="020B0604020202020204" pitchFamily="34" charset="0"/>
              </a:rPr>
              <a:t>Visualización de datos de </a:t>
            </a:r>
            <a:r>
              <a:rPr lang="es-MX"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Student</a:t>
            </a:r>
            <a:r>
              <a:rPr lang="es-MX" sz="2000" b="1" dirty="0">
                <a:latin typeface="Arial" panose="020B0604020202020204" pitchFamily="34" charset="0"/>
                <a:cs typeface="Arial" panose="020B0604020202020204" pitchFamily="34" charset="0"/>
              </a:rPr>
              <a:t> con </a:t>
            </a:r>
            <a:r>
              <a:rPr lang="es-MX"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nginx</a:t>
            </a:r>
            <a:r>
              <a:rPr lang="es-MX" sz="2000" b="1" dirty="0">
                <a:latin typeface="Arial" panose="020B0604020202020204" pitchFamily="34" charset="0"/>
                <a:cs typeface="Arial" panose="020B0604020202020204" pitchFamily="34" charset="0"/>
              </a:rPr>
              <a:t> activo</a:t>
            </a:r>
          </a:p>
          <a:p>
            <a:pPr algn="just"/>
            <a:endParaRPr lang="es-MX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Evidencia del funcionamiento correcto del proxy </a:t>
            </a:r>
            <a:r>
              <a:rPr lang="es-MX" dirty="0" err="1">
                <a:latin typeface="Arial" panose="020B0604020202020204" pitchFamily="34" charset="0"/>
                <a:cs typeface="Arial" panose="020B0604020202020204" pitchFamily="34" charset="0"/>
              </a:rPr>
              <a:t>Nginx</a:t>
            </a:r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, mostrando la respuesta del </a:t>
            </a:r>
            <a:r>
              <a:rPr lang="es-MX" dirty="0" err="1">
                <a:latin typeface="Arial" panose="020B0604020202020204" pitchFamily="34" charset="0"/>
                <a:cs typeface="Arial" panose="020B0604020202020204" pitchFamily="34" charset="0"/>
              </a:rPr>
              <a:t>endpoint</a:t>
            </a:r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 /api/</a:t>
            </a:r>
            <a:r>
              <a:rPr lang="es-MX" dirty="0" err="1">
                <a:latin typeface="Arial" panose="020B0604020202020204" pitchFamily="34" charset="0"/>
                <a:cs typeface="Arial" panose="020B0604020202020204" pitchFamily="34" charset="0"/>
              </a:rPr>
              <a:t>student</a:t>
            </a:r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/</a:t>
            </a:r>
            <a:r>
              <a:rPr lang="es-MX" dirty="0" err="1">
                <a:latin typeface="Arial" panose="020B0604020202020204" pitchFamily="34" charset="0"/>
                <a:cs typeface="Arial" panose="020B0604020202020204" pitchFamily="34" charset="0"/>
              </a:rPr>
              <a:t>all</a:t>
            </a:r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 con los datos del estudiante Meme López (ID 4, correo meme.lop@example.com). La URL limpia confirma que el sistema está desplegado y que las peticiones se enrutan correctamente sin depender de localhost, demostrando la integración completa del entorno Docker y </a:t>
            </a:r>
            <a:r>
              <a:rPr lang="es-MX" dirty="0" err="1">
                <a:latin typeface="Arial" panose="020B0604020202020204" pitchFamily="34" charset="0"/>
                <a:cs typeface="Arial" panose="020B0604020202020204" pitchFamily="34" charset="0"/>
              </a:rPr>
              <a:t>Nginx</a:t>
            </a:r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grpSp>
        <p:nvGrpSpPr>
          <p:cNvPr id="10" name="Grupo 9">
            <a:extLst>
              <a:ext uri="{FF2B5EF4-FFF2-40B4-BE49-F238E27FC236}">
                <a16:creationId xmlns:a16="http://schemas.microsoft.com/office/drawing/2014/main" id="{7B0FBC93-4BA1-49C7-B7C9-F917A45D9DFA}"/>
              </a:ext>
            </a:extLst>
          </p:cNvPr>
          <p:cNvGrpSpPr/>
          <p:nvPr/>
        </p:nvGrpSpPr>
        <p:grpSpPr>
          <a:xfrm>
            <a:off x="3198055" y="2769419"/>
            <a:ext cx="5795890" cy="3337871"/>
            <a:chOff x="158070" y="0"/>
            <a:chExt cx="11875860" cy="6858000"/>
          </a:xfrm>
        </p:grpSpPr>
        <p:pic>
          <p:nvPicPr>
            <p:cNvPr id="6" name="Imagen 5">
              <a:extLst>
                <a:ext uri="{FF2B5EF4-FFF2-40B4-BE49-F238E27FC236}">
                  <a16:creationId xmlns:a16="http://schemas.microsoft.com/office/drawing/2014/main" id="{2E367839-28BD-4067-A7D3-56F54AECE63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58070" y="0"/>
              <a:ext cx="11875860" cy="6858000"/>
            </a:xfrm>
            <a:prstGeom prst="rect">
              <a:avLst/>
            </a:prstGeom>
          </p:spPr>
        </p:pic>
        <p:pic>
          <p:nvPicPr>
            <p:cNvPr id="9" name="Imagen 8">
              <a:extLst>
                <a:ext uri="{FF2B5EF4-FFF2-40B4-BE49-F238E27FC236}">
                  <a16:creationId xmlns:a16="http://schemas.microsoft.com/office/drawing/2014/main" id="{9A2B5BE5-C347-4509-8C11-289F38AFDD2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46594"/>
            <a:stretch/>
          </p:blipFill>
          <p:spPr>
            <a:xfrm>
              <a:off x="7279613" y="1336431"/>
              <a:ext cx="4222576" cy="59084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87948555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40E7383A-2B6D-47EB-9665-C1DE6C8FBE8D}"/>
              </a:ext>
            </a:extLst>
          </p:cNvPr>
          <p:cNvSpPr txBox="1"/>
          <p:nvPr/>
        </p:nvSpPr>
        <p:spPr>
          <a:xfrm>
            <a:off x="1125416" y="970670"/>
            <a:ext cx="9861452" cy="37548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000" b="1" dirty="0">
                <a:latin typeface="Arial" panose="020B0604020202020204" pitchFamily="34" charset="0"/>
                <a:cs typeface="Arial" panose="020B0604020202020204" pitchFamily="34" charset="0"/>
              </a:rPr>
              <a:t>CONCLUSION</a:t>
            </a:r>
          </a:p>
          <a:p>
            <a:endParaRPr lang="es-MX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En conclusión, esta práctica permitió comprender de manera integral el proceso de implementación y despliegue de un sistema de microservicios utilizando Spring </a:t>
            </a:r>
            <a:r>
              <a:rPr lang="es-MX" dirty="0" err="1">
                <a:latin typeface="Arial" panose="020B0604020202020204" pitchFamily="34" charset="0"/>
                <a:cs typeface="Arial" panose="020B0604020202020204" pitchFamily="34" charset="0"/>
              </a:rPr>
              <a:t>Boot</a:t>
            </a:r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, Docker y </a:t>
            </a:r>
            <a:r>
              <a:rPr lang="es-MX" dirty="0" err="1">
                <a:latin typeface="Arial" panose="020B0604020202020204" pitchFamily="34" charset="0"/>
                <a:cs typeface="Arial" panose="020B0604020202020204" pitchFamily="34" charset="0"/>
              </a:rPr>
              <a:t>Nginx</a:t>
            </a:r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. A través de la configuración de cada servicio, la creación de contenedores y la integración del proxy inverso, se logró visualizar el funcionamiento real del sistema y la comunicación entre sus componentes. Aunque se presentaron desafíos técnicos, el resultado final demuestra la capacidad de conectar y servir datos de forma eficiente, consolidando una experiencia práctica que refuerza los fundamentos de la arquitectura distribuida y el trabajo colaborativo entre tecnologías modernas.</a:t>
            </a:r>
          </a:p>
          <a:p>
            <a:pPr algn="just"/>
            <a:endParaRPr lang="es-MX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s-MX" b="1" dirty="0">
                <a:latin typeface="Arial" panose="020B0604020202020204" pitchFamily="34" charset="0"/>
                <a:cs typeface="Arial" panose="020B0604020202020204" pitchFamily="34" charset="0"/>
              </a:rPr>
              <a:t>ENLACE DEL PROYECTO EN REPOSITORIO GITHUB:</a:t>
            </a:r>
          </a:p>
          <a:p>
            <a:pPr algn="just"/>
            <a:r>
              <a:rPr lang="es-MX" b="1">
                <a:latin typeface="Arial" panose="020B0604020202020204" pitchFamily="34" charset="0"/>
                <a:cs typeface="Arial" panose="020B0604020202020204" pitchFamily="34" charset="0"/>
                <a:hlinkClick r:id="rId2"/>
              </a:rPr>
              <a:t>https://github.com/Danier540/ADB_TEMA_6.git</a:t>
            </a:r>
            <a:r>
              <a:rPr lang="es-MX" b="1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es-MX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48875982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2237</TotalTime>
  <Words>1210</Words>
  <Application>Microsoft Office PowerPoint</Application>
  <PresentationFormat>Panorámica</PresentationFormat>
  <Paragraphs>75</Paragraphs>
  <Slides>20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20</vt:i4>
      </vt:variant>
    </vt:vector>
  </HeadingPairs>
  <TitlesOfParts>
    <vt:vector size="24" baseType="lpstr">
      <vt:lpstr>Arial</vt:lpstr>
      <vt:lpstr>Calibri</vt:lpstr>
      <vt:lpstr>Calibri Light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DANIER DOMÍNGUEZ</dc:creator>
  <cp:lastModifiedBy>DANIER</cp:lastModifiedBy>
  <cp:revision>138</cp:revision>
  <dcterms:created xsi:type="dcterms:W3CDTF">2025-10-18T13:06:45Z</dcterms:created>
  <dcterms:modified xsi:type="dcterms:W3CDTF">2026-06-14T01:54:43Z</dcterms:modified>
</cp:coreProperties>
</file>